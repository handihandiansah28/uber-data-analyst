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17"/>
  </p:notesMasterIdLst>
  <p:sldIdLst>
    <p:sldId id="256" r:id="rId3"/>
    <p:sldId id="257" r:id="rId4"/>
    <p:sldId id="258" r:id="rId5"/>
    <p:sldId id="272" r:id="rId6"/>
    <p:sldId id="261" r:id="rId7"/>
    <p:sldId id="264" r:id="rId8"/>
    <p:sldId id="263" r:id="rId9"/>
    <p:sldId id="262" r:id="rId10"/>
    <p:sldId id="270" r:id="rId11"/>
    <p:sldId id="265" r:id="rId12"/>
    <p:sldId id="266" r:id="rId13"/>
    <p:sldId id="268" r:id="rId14"/>
    <p:sldId id="269" r:id="rId15"/>
    <p:sldId id="260" r:id="rId16"/>
  </p:sldIdLst>
  <p:sldSz cx="9144000" cy="5143500" type="screen16x9"/>
  <p:notesSz cx="6858000" cy="9144000"/>
  <p:embeddedFontLst>
    <p:embeddedFont>
      <p:font typeface="Arial Rounded MT Bold" panose="020F0704030504030204" pitchFamily="34" charset="0"/>
      <p:regular r:id="rId18"/>
    </p:embeddedFont>
    <p:embeddedFont>
      <p:font typeface="Calibri Light" panose="020F0302020204030204" pitchFamily="34" charset="0"/>
      <p:regular r:id="rId19"/>
      <p:italic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Poppins Light" panose="00000400000000000000" pitchFamily="2" charset="0"/>
      <p:regular r:id="rId25"/>
      <p:bold r:id="rId26"/>
      <p:italic r:id="rId27"/>
      <p:boldItalic r:id="rId28"/>
    </p:embeddedFont>
    <p:embeddedFont>
      <p:font typeface="Poppins SemiBold" panose="000007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87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8569ad431c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8569ad431c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9ad431c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8569ad431c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8392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4778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1244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4964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65151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936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7642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1785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1505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9ad431c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8569ad431c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887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569ad431c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8569ad431c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891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215700" y="859800"/>
            <a:ext cx="4020300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215700" y="4107600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080000" y="1958850"/>
            <a:ext cx="6984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815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672450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355375"/>
            <a:ext cx="8520600" cy="3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65500" y="1425175"/>
            <a:ext cx="26385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ubTitle" idx="1"/>
          </p:nvPr>
        </p:nvSpPr>
        <p:spPr>
          <a:xfrm>
            <a:off x="265500" y="3144000"/>
            <a:ext cx="23865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3972000" y="724075"/>
            <a:ext cx="48045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title"/>
          </p:nvPr>
        </p:nvSpPr>
        <p:spPr>
          <a:xfrm>
            <a:off x="1829850" y="206502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06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0D606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355375"/>
            <a:ext cx="8520600" cy="3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 SemiBold"/>
              <a:buChar char="●"/>
              <a:defRPr sz="18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ctrTitle"/>
          </p:nvPr>
        </p:nvSpPr>
        <p:spPr>
          <a:xfrm>
            <a:off x="215700" y="859800"/>
            <a:ext cx="4020300" cy="2090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3600" dirty="0">
                <a:latin typeface="Arial Rounded MT Bold" panose="020F0704030504030204" pitchFamily="34" charset="0"/>
              </a:rPr>
              <a:t>Analisis Pelanggan Uber tahun 2024</a:t>
            </a:r>
            <a:endParaRPr sz="3600" dirty="0">
              <a:latin typeface="Arial Rounded MT Bold" panose="020F0704030504030204" pitchFamily="34" charset="0"/>
            </a:endParaRPr>
          </a:p>
        </p:txBody>
      </p:sp>
      <p:sp>
        <p:nvSpPr>
          <p:cNvPr id="90" name="Google Shape;90;p23"/>
          <p:cNvSpPr txBox="1">
            <a:spLocks noGrp="1"/>
          </p:cNvSpPr>
          <p:nvPr>
            <p:ph type="subTitle" idx="1"/>
          </p:nvPr>
        </p:nvSpPr>
        <p:spPr>
          <a:xfrm>
            <a:off x="215700" y="4443675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35"/>
              <a:buNone/>
            </a:pPr>
            <a:r>
              <a:rPr lang="en" dirty="0">
                <a:latin typeface="Arial Rounded MT Bold" panose="020F0704030504030204" pitchFamily="34" charset="0"/>
              </a:rPr>
              <a:t>Handi Handiansah</a:t>
            </a:r>
            <a:endParaRPr dirty="0">
              <a:latin typeface="Arial Rounded MT Bold" panose="020F0704030504030204" pitchFamily="34" charset="0"/>
            </a:endParaRPr>
          </a:p>
        </p:txBody>
      </p:sp>
      <p:sp>
        <p:nvSpPr>
          <p:cNvPr id="91" name="Google Shape;91;p23"/>
          <p:cNvSpPr txBox="1"/>
          <p:nvPr/>
        </p:nvSpPr>
        <p:spPr>
          <a:xfrm>
            <a:off x="215700" y="3852975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rgbClr val="212121"/>
                </a:solidFill>
                <a:latin typeface="Arial Rounded MT Bold" panose="020F0704030504030204" pitchFamily="34" charset="0"/>
                <a:ea typeface="Poppins SemiBold"/>
                <a:cs typeface="Poppins SemiBold"/>
                <a:sym typeface="Poppins SemiBold"/>
              </a:rPr>
              <a:t>Bootcamp Data Analyst with SQL &amp; Python using Google Platform</a:t>
            </a:r>
            <a:endParaRPr sz="1900" dirty="0">
              <a:solidFill>
                <a:srgbClr val="212121"/>
              </a:solidFill>
              <a:latin typeface="Arial Rounded MT Bold" panose="020F0704030504030204" pitchFamily="34" charset="0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4EDBC4-8BA0-45FE-921D-981D94CDFFA5}"/>
              </a:ext>
            </a:extLst>
          </p:cNvPr>
          <p:cNvSpPr/>
          <p:nvPr/>
        </p:nvSpPr>
        <p:spPr>
          <a:xfrm>
            <a:off x="925286" y="662667"/>
            <a:ext cx="5256440" cy="69804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b="1" dirty="0">
                <a:latin typeface="+mj-lt"/>
              </a:rPr>
              <a:t>LATAR BELAKANG DAN TUJUAN ANALISIS</a:t>
            </a:r>
            <a:endParaRPr lang="en-ID" sz="1800" b="1" dirty="0">
              <a:latin typeface="+mj-l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D1AF74-E64B-441E-B18C-AEBF1807D30C}"/>
              </a:ext>
            </a:extLst>
          </p:cNvPr>
          <p:cNvSpPr/>
          <p:nvPr/>
        </p:nvSpPr>
        <p:spPr>
          <a:xfrm>
            <a:off x="1001484" y="1653267"/>
            <a:ext cx="6866166" cy="222340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D" sz="1600" dirty="0" err="1">
                <a:solidFill>
                  <a:sysClr val="windowText" lastClr="000000"/>
                </a:solidFill>
              </a:rPr>
              <a:t>Analisis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ini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bertujuan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untuk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melihat</a:t>
            </a:r>
            <a:r>
              <a:rPr lang="en-ID" sz="1600" dirty="0">
                <a:solidFill>
                  <a:sysClr val="windowText" lastClr="000000"/>
                </a:solidFill>
              </a:rPr>
              <a:t> dan </a:t>
            </a:r>
            <a:r>
              <a:rPr lang="en-ID" sz="1600" dirty="0" err="1">
                <a:solidFill>
                  <a:sysClr val="windowText" lastClr="000000"/>
                </a:solidFill>
              </a:rPr>
              <a:t>mengevaluasi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kinerja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operasional</a:t>
            </a:r>
            <a:r>
              <a:rPr lang="en-ID" sz="1600" dirty="0">
                <a:solidFill>
                  <a:sysClr val="windowText" lastClr="000000"/>
                </a:solidFill>
              </a:rPr>
              <a:t> dan </a:t>
            </a:r>
            <a:r>
              <a:rPr lang="en-ID" sz="1600" dirty="0" err="1">
                <a:solidFill>
                  <a:sysClr val="windowText" lastClr="000000"/>
                </a:solidFill>
              </a:rPr>
              <a:t>finansial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layanan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transportasi</a:t>
            </a:r>
            <a:r>
              <a:rPr lang="en-ID" sz="1600" dirty="0">
                <a:solidFill>
                  <a:sysClr val="windowText" lastClr="000000"/>
                </a:solidFill>
              </a:rPr>
              <a:t> online Uber. </a:t>
            </a:r>
            <a:r>
              <a:rPr lang="en-ID" sz="1600" dirty="0" err="1">
                <a:solidFill>
                  <a:sysClr val="windowText" lastClr="000000"/>
                </a:solidFill>
              </a:rPr>
              <a:t>Fokus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utama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dalam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analisis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ini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adalah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mengidentifikasi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tren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pertumbuhan</a:t>
            </a:r>
            <a:r>
              <a:rPr lang="en-ID" sz="1600" dirty="0">
                <a:solidFill>
                  <a:sysClr val="windowText" lastClr="000000"/>
                </a:solidFill>
              </a:rPr>
              <a:t>, </a:t>
            </a:r>
            <a:r>
              <a:rPr lang="en-ID" sz="1600" dirty="0" err="1">
                <a:solidFill>
                  <a:sysClr val="windowText" lastClr="000000"/>
                </a:solidFill>
              </a:rPr>
              <a:t>distribusi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kinerja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berdasarkan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jenis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kendaraan</a:t>
            </a:r>
            <a:r>
              <a:rPr lang="en-ID" sz="1600" dirty="0">
                <a:solidFill>
                  <a:sysClr val="windowText" lastClr="000000"/>
                </a:solidFill>
              </a:rPr>
              <a:t> dan </a:t>
            </a:r>
            <a:r>
              <a:rPr lang="en-ID" sz="1600" dirty="0" err="1">
                <a:solidFill>
                  <a:sysClr val="windowText" lastClr="000000"/>
                </a:solidFill>
              </a:rPr>
              <a:t>waktu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harian</a:t>
            </a:r>
            <a:r>
              <a:rPr lang="en-ID" sz="1600" dirty="0">
                <a:solidFill>
                  <a:sysClr val="windowText" lastClr="000000"/>
                </a:solidFill>
              </a:rPr>
              <a:t>, </a:t>
            </a:r>
            <a:r>
              <a:rPr lang="en-ID" sz="1600" dirty="0" err="1">
                <a:solidFill>
                  <a:sysClr val="windowText" lastClr="000000"/>
                </a:solidFill>
              </a:rPr>
              <a:t>serta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memahami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dampak</a:t>
            </a:r>
            <a:r>
              <a:rPr lang="en-ID" sz="1600" dirty="0">
                <a:solidFill>
                  <a:sysClr val="windowText" lastClr="000000"/>
                </a:solidFill>
              </a:rPr>
              <a:t> rating </a:t>
            </a:r>
            <a:r>
              <a:rPr lang="en-ID" sz="1600" dirty="0" err="1">
                <a:solidFill>
                  <a:sysClr val="windowText" lastClr="000000"/>
                </a:solidFill>
              </a:rPr>
              <a:t>terhadap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penghasilan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guna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mendukung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pengambilan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keputusan</a:t>
            </a:r>
            <a:r>
              <a:rPr lang="en-ID" sz="1600" dirty="0">
                <a:solidFill>
                  <a:sysClr val="windowText" lastClr="000000"/>
                </a:solidFill>
              </a:rPr>
              <a:t> </a:t>
            </a:r>
            <a:r>
              <a:rPr lang="en-ID" sz="1600" dirty="0" err="1">
                <a:solidFill>
                  <a:sysClr val="windowText" lastClr="000000"/>
                </a:solidFill>
              </a:rPr>
              <a:t>strategis</a:t>
            </a:r>
            <a:r>
              <a:rPr lang="en-ID" sz="1600" dirty="0">
                <a:solidFill>
                  <a:sysClr val="windowText" lastClr="00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1;p2">
            <a:extLst>
              <a:ext uri="{FF2B5EF4-FFF2-40B4-BE49-F238E27FC236}">
                <a16:creationId xmlns:a16="http://schemas.microsoft.com/office/drawing/2014/main" id="{A7B083C5-FF02-4346-A5C9-4830D2DF2F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5115" y="356506"/>
            <a:ext cx="2860629" cy="67491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2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Gambaran </a:t>
            </a:r>
            <a:r>
              <a:rPr lang="en-US" sz="20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Umum</a:t>
            </a:r>
            <a:endParaRPr sz="20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71E326-282E-4728-914D-046BA4B2B1B6}"/>
              </a:ext>
            </a:extLst>
          </p:cNvPr>
          <p:cNvSpPr/>
          <p:nvPr/>
        </p:nvSpPr>
        <p:spPr>
          <a:xfrm>
            <a:off x="862692" y="1423776"/>
            <a:ext cx="7418615" cy="840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ysClr val="windowText" lastClr="000000"/>
                </a:solidFill>
              </a:rPr>
              <a:t>Data </a:t>
            </a:r>
            <a:r>
              <a:rPr lang="en-US" dirty="0" err="1">
                <a:solidFill>
                  <a:sysClr val="windowText" lastClr="000000"/>
                </a:solidFill>
              </a:rPr>
              <a:t>ini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berisi</a:t>
            </a:r>
            <a:r>
              <a:rPr lang="en-US" dirty="0">
                <a:solidFill>
                  <a:sysClr val="windowText" lastClr="000000"/>
                </a:solidFill>
              </a:rPr>
              <a:t> 148.767 </a:t>
            </a:r>
            <a:r>
              <a:rPr lang="en-US" dirty="0" err="1">
                <a:solidFill>
                  <a:sysClr val="windowText" lastClr="000000"/>
                </a:solidFill>
              </a:rPr>
              <a:t>Transaksi</a:t>
            </a:r>
            <a:r>
              <a:rPr lang="en-US" dirty="0">
                <a:solidFill>
                  <a:sysClr val="windowText" lastClr="000000"/>
                </a:solidFill>
              </a:rPr>
              <a:t>, dengan </a:t>
            </a:r>
            <a:r>
              <a:rPr lang="en-US" dirty="0" err="1">
                <a:solidFill>
                  <a:sysClr val="windowText" lastClr="000000"/>
                </a:solidFill>
              </a:rPr>
              <a:t>Persentase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Keberhasilan</a:t>
            </a:r>
            <a:r>
              <a:rPr lang="en-US" dirty="0">
                <a:solidFill>
                  <a:sysClr val="windowText" lastClr="000000"/>
                </a:solidFill>
              </a:rPr>
              <a:t> 62%, total </a:t>
            </a:r>
            <a:r>
              <a:rPr lang="en-US" dirty="0" err="1">
                <a:solidFill>
                  <a:sysClr val="windowText" lastClr="000000"/>
                </a:solidFill>
              </a:rPr>
              <a:t>pendapatan</a:t>
            </a:r>
            <a:r>
              <a:rPr lang="en-US">
                <a:solidFill>
                  <a:sysClr val="windowText" lastClr="000000"/>
                </a:solidFill>
              </a:rPr>
              <a:t> 51.426.264</a:t>
            </a:r>
            <a:r>
              <a:rPr lang="en-US" dirty="0">
                <a:solidFill>
                  <a:sysClr val="windowText" lastClr="000000"/>
                </a:solidFill>
              </a:rPr>
              <a:t>,. Dan total </a:t>
            </a:r>
            <a:r>
              <a:rPr lang="en-US" dirty="0" err="1">
                <a:solidFill>
                  <a:sysClr val="windowText" lastClr="000000"/>
                </a:solidFill>
              </a:rPr>
              <a:t>jarak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tempuh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ID" b="0" i="0" dirty="0">
                <a:solidFill>
                  <a:schemeClr val="tx1"/>
                </a:solidFill>
                <a:effectLst/>
              </a:rPr>
              <a:t>2.493.048,69 KM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691FE2B4-CB5C-4C80-A7CC-4A52942A4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26564"/>
              </p:ext>
            </p:extLst>
          </p:nvPr>
        </p:nvGraphicFramePr>
        <p:xfrm>
          <a:off x="1197429" y="2473257"/>
          <a:ext cx="5358645" cy="1891710"/>
        </p:xfrm>
        <a:graphic>
          <a:graphicData uri="http://schemas.openxmlformats.org/drawingml/2006/table">
            <a:tbl>
              <a:tblPr firstRow="1" bandCol="1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{69012ECD-51FC-41F1-AA8D-1B2483CD663E}</a:tableStyleId>
              </a:tblPr>
              <a:tblGrid>
                <a:gridCol w="2201379">
                  <a:extLst>
                    <a:ext uri="{9D8B030D-6E8A-4147-A177-3AD203B41FA5}">
                      <a16:colId xmlns:a16="http://schemas.microsoft.com/office/drawing/2014/main" val="822734906"/>
                    </a:ext>
                  </a:extLst>
                </a:gridCol>
                <a:gridCol w="1371051">
                  <a:extLst>
                    <a:ext uri="{9D8B030D-6E8A-4147-A177-3AD203B41FA5}">
                      <a16:colId xmlns:a16="http://schemas.microsoft.com/office/drawing/2014/main" val="3973157249"/>
                    </a:ext>
                  </a:extLst>
                </a:gridCol>
                <a:gridCol w="1786215">
                  <a:extLst>
                    <a:ext uri="{9D8B030D-6E8A-4147-A177-3AD203B41FA5}">
                      <a16:colId xmlns:a16="http://schemas.microsoft.com/office/drawing/2014/main" val="1521589141"/>
                    </a:ext>
                  </a:extLst>
                </a:gridCol>
              </a:tblGrid>
              <a:tr h="315285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ysClr val="windowText" lastClr="000000"/>
                          </a:solidFill>
                        </a:rPr>
                        <a:t>Metrik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Nilai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Rata-rata </a:t>
                      </a:r>
                      <a:r>
                        <a:rPr lang="en-US" dirty="0" err="1">
                          <a:solidFill>
                            <a:sysClr val="windowText" lastClr="000000"/>
                          </a:solidFill>
                        </a:rPr>
                        <a:t>harian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154110"/>
                  </a:ext>
                </a:extLst>
              </a:tr>
              <a:tr h="31528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Total Booking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148,767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407/</a:t>
                      </a:r>
                      <a:r>
                        <a:rPr lang="en-US" dirty="0" err="1">
                          <a:solidFill>
                            <a:sysClr val="windowText" lastClr="000000"/>
                          </a:solidFill>
                        </a:rPr>
                        <a:t>hari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232505"/>
                  </a:ext>
                </a:extLst>
              </a:tr>
              <a:tr h="31528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Total Value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51.4M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140K/</a:t>
                      </a:r>
                      <a:r>
                        <a:rPr lang="en-US" dirty="0" err="1">
                          <a:solidFill>
                            <a:sysClr val="windowText" lastClr="000000"/>
                          </a:solidFill>
                        </a:rPr>
                        <a:t>hari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768952"/>
                  </a:ext>
                </a:extLst>
              </a:tr>
              <a:tr h="31528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Revenue/Booking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346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047298"/>
                  </a:ext>
                </a:extLst>
              </a:tr>
              <a:tr h="31528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Success Rate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62%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234301"/>
                  </a:ext>
                </a:extLst>
              </a:tr>
              <a:tr h="315285">
                <a:tc>
                  <a:txBody>
                    <a:bodyPr/>
                    <a:lstStyle/>
                    <a:p>
                      <a:r>
                        <a:rPr lang="en-US" dirty="0"/>
                        <a:t>Jarak </a:t>
                      </a:r>
                      <a:r>
                        <a:rPr lang="en-US" dirty="0" err="1"/>
                        <a:t>Tempuh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2.4 Juta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6,829.83 KM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1948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396870-ECDE-4EC7-8F16-E07CAB2FE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700" y="83527"/>
            <a:ext cx="5484300" cy="5727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Arial Rounded MT Bold" panose="020F0704030504030204" pitchFamily="34" charset="0"/>
              </a:rPr>
              <a:t>Analisis</a:t>
            </a:r>
            <a:r>
              <a:rPr lang="en-US" dirty="0">
                <a:latin typeface="Arial Rounded MT Bold" panose="020F0704030504030204" pitchFamily="34" charset="0"/>
              </a:rPr>
              <a:t> Performa </a:t>
            </a:r>
            <a:r>
              <a:rPr lang="en-US" dirty="0" err="1">
                <a:latin typeface="Arial Rounded MT Bold" panose="020F0704030504030204" pitchFamily="34" charset="0"/>
              </a:rPr>
              <a:t>Bulanan</a:t>
            </a:r>
            <a:endParaRPr lang="en-ID" dirty="0">
              <a:latin typeface="Arial Rounded MT Bold" panose="020F07040305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076FCE-42D1-461E-89FF-C57674441B1F}"/>
              </a:ext>
            </a:extLst>
          </p:cNvPr>
          <p:cNvSpPr txBox="1"/>
          <p:nvPr/>
        </p:nvSpPr>
        <p:spPr>
          <a:xfrm>
            <a:off x="5225144" y="983902"/>
            <a:ext cx="33636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v-SE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Total transaksi: 148.767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v-SE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Rata-rata transaksi perbulan :12.397</a:t>
            </a:r>
            <a:endParaRPr lang="sv-SE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v-SE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Terjadi penurunan transaksi </a:t>
            </a:r>
            <a:r>
              <a:rPr lang="sv-SE" b="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4,72%</a:t>
            </a:r>
            <a:r>
              <a:rPr lang="sv-SE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dari 12.745 pada bulan Januari ke 12.143 pada bulan Desember dari total transaksi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71FF6-A15E-44C2-A65E-63361C971AD3}"/>
              </a:ext>
            </a:extLst>
          </p:cNvPr>
          <p:cNvSpPr txBox="1"/>
          <p:nvPr/>
        </p:nvSpPr>
        <p:spPr>
          <a:xfrm>
            <a:off x="185058" y="3627025"/>
            <a:ext cx="496388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v-SE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Secara keseluruhan, jumlah pelanggan dan pendapatan perbulan cenderung menurun</a:t>
            </a:r>
            <a:endParaRPr lang="sv-SE" sz="1300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v-SE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Terjadi 2x penurunan pendapatan dan pelanggan berturut-turut pada bulan Agustus-September dan November-Desember</a:t>
            </a:r>
            <a:endParaRPr lang="sv-SE" sz="1300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60CE61-7B12-43C9-8CE5-16AE4F50F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58" y="656227"/>
            <a:ext cx="4767942" cy="28443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040D7D-6A4D-4C69-832F-2C353E485B81}"/>
              </a:ext>
            </a:extLst>
          </p:cNvPr>
          <p:cNvSpPr txBox="1"/>
          <p:nvPr/>
        </p:nvSpPr>
        <p:spPr>
          <a:xfrm>
            <a:off x="5225145" y="2349365"/>
            <a:ext cx="33636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v-SE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Total pendapatan 51.4 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v-SE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Rata-rata pendapatan perbulan  4.285.522,.</a:t>
            </a:r>
            <a:endParaRPr lang="sv-SE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sv-SE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Terjadi penurunan pendapatan </a:t>
            </a:r>
            <a:r>
              <a:rPr lang="sv-SE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1,86</a:t>
            </a:r>
            <a:r>
              <a:rPr lang="sv-SE" b="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%</a:t>
            </a:r>
            <a:r>
              <a:rPr lang="sv-SE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dari 4.366.970,. pada bulan Januari ke  4.285.544,. pada bulan Desember, namun angka tersebut masih diatas rata-rata pendapatan bulanan</a:t>
            </a:r>
          </a:p>
        </p:txBody>
      </p:sp>
    </p:spTree>
    <p:extLst>
      <p:ext uri="{BB962C8B-B14F-4D97-AF65-F5344CB8AC3E}">
        <p14:creationId xmlns:p14="http://schemas.microsoft.com/office/powerpoint/2010/main" val="3358945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396870-ECDE-4EC7-8F16-E07CAB2FE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700" y="83527"/>
            <a:ext cx="5484300" cy="5727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Arial Rounded MT Bold" panose="020F0704030504030204" pitchFamily="34" charset="0"/>
              </a:rPr>
              <a:t>Analisis</a:t>
            </a:r>
            <a:r>
              <a:rPr lang="en-US" dirty="0">
                <a:latin typeface="Arial Rounded MT Bold" panose="020F0704030504030204" pitchFamily="34" charset="0"/>
              </a:rPr>
              <a:t> Performa </a:t>
            </a:r>
            <a:r>
              <a:rPr lang="en-US" dirty="0" err="1">
                <a:latin typeface="Arial Rounded MT Bold" panose="020F0704030504030204" pitchFamily="34" charset="0"/>
              </a:rPr>
              <a:t>Bulanan</a:t>
            </a:r>
            <a:endParaRPr lang="en-ID" dirty="0">
              <a:latin typeface="Arial Rounded MT Bold" panose="020F07040305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076FCE-42D1-461E-89FF-C57674441B1F}"/>
              </a:ext>
            </a:extLst>
          </p:cNvPr>
          <p:cNvSpPr txBox="1"/>
          <p:nvPr/>
        </p:nvSpPr>
        <p:spPr>
          <a:xfrm>
            <a:off x="5192486" y="1950329"/>
            <a:ext cx="35044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Puncak:</a:t>
            </a:r>
          </a:p>
          <a:p>
            <a:r>
              <a:rPr lang="sv-SE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lang="sv-SE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endapatan tertinggi : Maret, rata-rata harian 146.343,.</a:t>
            </a:r>
            <a:endParaRPr lang="sv-SE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sv-SE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booking tertinggi: Juli, rata-rata harian 413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Lembah: </a:t>
            </a:r>
          </a:p>
          <a:p>
            <a:r>
              <a:rPr lang="sv-SE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lang="sv-SE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endapatan terendah: Agustus, rata-rata harian 135.862,. </a:t>
            </a:r>
          </a:p>
          <a:p>
            <a:r>
              <a:rPr lang="sv-SE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Booking</a:t>
            </a:r>
            <a:r>
              <a:rPr lang="sv-SE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terendah: </a:t>
            </a:r>
            <a:r>
              <a:rPr lang="sv-SE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April, rata-rata harian 403</a:t>
            </a:r>
            <a:endParaRPr lang="sv-SE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71FF6-A15E-44C2-A65E-63361C971AD3}"/>
              </a:ext>
            </a:extLst>
          </p:cNvPr>
          <p:cNvSpPr txBox="1"/>
          <p:nvPr/>
        </p:nvSpPr>
        <p:spPr>
          <a:xfrm>
            <a:off x="5192486" y="1041944"/>
            <a:ext cx="3504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Performa disetiap bulan cukup stabil dengan rata-rata transaksi harian di atas 400 dan pendapatan harian diatas 135.000,.</a:t>
            </a:r>
            <a:endParaRPr lang="sv-SE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61BD4E-EDB7-467B-AF92-69B56D2BB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9" y="656227"/>
            <a:ext cx="4960351" cy="319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927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9F2D98E-3FD0-47E7-B159-C9DA06202D87}"/>
              </a:ext>
            </a:extLst>
          </p:cNvPr>
          <p:cNvSpPr txBox="1"/>
          <p:nvPr/>
        </p:nvSpPr>
        <p:spPr>
          <a:xfrm>
            <a:off x="230842" y="3289685"/>
            <a:ext cx="34797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Sebanyak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62% 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transaksi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selesai</a:t>
            </a:r>
            <a:endParaRPr lang="en-ID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Total 25%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transaksi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gagal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karena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Driver (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dibatalkan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oleh driver dan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tidak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mendapatkan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driver)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B15D61-EDD8-412F-9D2A-A039AAB15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42" y="597469"/>
            <a:ext cx="3479747" cy="2418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906178-4B25-43AB-9FF0-BE5A3EB08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899" y="216119"/>
            <a:ext cx="4295954" cy="30968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28A95B-FFAA-4C18-80BA-4C9033D2D7DE}"/>
              </a:ext>
            </a:extLst>
          </p:cNvPr>
          <p:cNvSpPr txBox="1"/>
          <p:nvPr/>
        </p:nvSpPr>
        <p:spPr>
          <a:xfrm>
            <a:off x="3950899" y="3312933"/>
            <a:ext cx="444937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Seluruh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tipe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kendaraan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memiliki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performa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yang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relatif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sama</a:t>
            </a:r>
            <a:endParaRPr lang="en-ID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ipe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kendaraan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Go Sedan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memiliki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tingkat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penyelesaian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paling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rendah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serta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pembatalan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oleh driver dan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tidak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menemukan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driver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berada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ditingkat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paling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tinggi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4705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FBD5E9-2E06-4CAB-B8BC-C3700408F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41" y="473977"/>
            <a:ext cx="3852839" cy="30807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270288-E69F-4E24-842F-CEC644660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510" y="473977"/>
            <a:ext cx="4096772" cy="30807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F2D98E-3FD0-47E7-B159-C9DA06202D87}"/>
              </a:ext>
            </a:extLst>
          </p:cNvPr>
          <p:cNvSpPr txBox="1"/>
          <p:nvPr/>
        </p:nvSpPr>
        <p:spPr>
          <a:xfrm>
            <a:off x="230841" y="3594645"/>
            <a:ext cx="816844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Peak Hour: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Puncak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kesibukan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terjadi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pada Pagi, Siang dan Malam (06.00 - 21.00)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Low Demand: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Periode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paling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senggang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terjadi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pada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waktu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Dawn(00.00 - 04.00)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Pola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permintaan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relatif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konsisten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di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semua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hari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dari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hari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Minggu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hingga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Sabtu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dengan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permintaan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paling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tinggi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di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periode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waktu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Morning dan Evening</a:t>
            </a:r>
          </a:p>
        </p:txBody>
      </p:sp>
    </p:spTree>
    <p:extLst>
      <p:ext uri="{BB962C8B-B14F-4D97-AF65-F5344CB8AC3E}">
        <p14:creationId xmlns:p14="http://schemas.microsoft.com/office/powerpoint/2010/main" val="1453465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E076FCE-42D1-461E-89FF-C57674441B1F}"/>
              </a:ext>
            </a:extLst>
          </p:cNvPr>
          <p:cNvSpPr txBox="1"/>
          <p:nvPr/>
        </p:nvSpPr>
        <p:spPr>
          <a:xfrm>
            <a:off x="5796000" y="1092023"/>
            <a:ext cx="3348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Dominasi: </a:t>
            </a:r>
            <a:r>
              <a:rPr lang="nl-NL" sz="16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Tipe Kendaraan Auto merupakan kendaraan dengan jarak tempuh dan pendapatan paling tinggi, diikuti dengan o Mini, dan Go Sedan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Performa Rendah: Tipe Kendaraan Uber XL dan Ebike merupakan kendaraan dengan jarak tempuh dan pendapatan paling rendah</a:t>
            </a:r>
            <a:endParaRPr lang="sv-SE" sz="1600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855F6B-9E2B-4C4D-8827-340E2634E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3053"/>
            <a:ext cx="5795531" cy="3457394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D5C4F7E0-81B7-4443-AF02-96F539F2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7100" y="83527"/>
            <a:ext cx="5869800" cy="5727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Arial Rounded MT Bold" panose="020F0704030504030204" pitchFamily="34" charset="0"/>
              </a:rPr>
              <a:t>Analisis</a:t>
            </a:r>
            <a:r>
              <a:rPr lang="en-US" dirty="0">
                <a:latin typeface="Arial Rounded MT Bold" panose="020F0704030504030204" pitchFamily="34" charset="0"/>
              </a:rPr>
              <a:t> Performa </a:t>
            </a:r>
            <a:r>
              <a:rPr lang="en-US" dirty="0" err="1">
                <a:latin typeface="Arial Rounded MT Bold" panose="020F0704030504030204" pitchFamily="34" charset="0"/>
              </a:rPr>
              <a:t>Jenis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Kendaraan</a:t>
            </a:r>
            <a:endParaRPr lang="en-ID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930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E076FCE-42D1-461E-89FF-C57674441B1F}"/>
              </a:ext>
            </a:extLst>
          </p:cNvPr>
          <p:cNvSpPr txBox="1"/>
          <p:nvPr/>
        </p:nvSpPr>
        <p:spPr>
          <a:xfrm>
            <a:off x="5081625" y="1453679"/>
            <a:ext cx="3348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UPI memiliki kontribusi yang paling tinggi dengan 45%, Cash 24.9%, Uber Wallet 12%, Credit Card 10% dan Debit Card paling rendah dengan 8.1% </a:t>
            </a:r>
            <a:endParaRPr lang="sv-SE" sz="1600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D5C4F7E0-81B7-4443-AF02-96F539F2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7100" y="83527"/>
            <a:ext cx="5869800" cy="5727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Arial Rounded MT Bold" panose="020F0704030504030204" pitchFamily="34" charset="0"/>
              </a:rPr>
              <a:t>Kontribusi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Metode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Pembayaran</a:t>
            </a:r>
            <a:endParaRPr lang="en-ID" dirty="0">
              <a:latin typeface="Arial Rounded MT Bold" panose="020F07040305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BA539E-7198-4E85-904E-D0A611A34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092023"/>
            <a:ext cx="4229100" cy="287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176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E076F8-C807-4CB3-9E58-3249148A5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0" y="1561407"/>
            <a:ext cx="2966179" cy="25629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A1E7AC-87B8-430B-8A01-683D6B2B2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862" y="1561407"/>
            <a:ext cx="2966178" cy="25629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FA5F35-8F3A-41AF-8B49-310F91A93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7334" y="1561406"/>
            <a:ext cx="2872020" cy="2562917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06930B44-5177-44AF-91C3-5F8946369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3937" y="188301"/>
            <a:ext cx="5116125" cy="102137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Arial Rounded MT Bold" panose="020F0704030504030204" pitchFamily="34" charset="0"/>
              </a:rPr>
              <a:t>Alasan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Pembatalan</a:t>
            </a:r>
            <a:r>
              <a:rPr lang="en-US" dirty="0">
                <a:latin typeface="Arial Rounded MT Bold" panose="020F0704030504030204" pitchFamily="34" charset="0"/>
              </a:rPr>
              <a:t> dan </a:t>
            </a:r>
            <a:r>
              <a:rPr lang="en-US" dirty="0" err="1">
                <a:latin typeface="Arial Rounded MT Bold" panose="020F0704030504030204" pitchFamily="34" charset="0"/>
              </a:rPr>
              <a:t>Perjalanan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Tidak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Selesai</a:t>
            </a:r>
            <a:endParaRPr lang="en-ID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101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A28A95B-FFAA-4C18-80BA-4C9033D2D7DE}"/>
              </a:ext>
            </a:extLst>
          </p:cNvPr>
          <p:cNvSpPr txBox="1"/>
          <p:nvPr/>
        </p:nvSpPr>
        <p:spPr>
          <a:xfrm>
            <a:off x="243465" y="1610282"/>
            <a:ext cx="274738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Alasan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embatalan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55%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disebabkan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oleh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kualitas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layanan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Driver,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seperti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Driver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tidak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menjemput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penumpang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(22,3%), Driver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meminta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dibatalkan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(21,9%), dan AC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tidak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menyala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(10,9%)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Alasan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Pemb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atalan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45%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permintaan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Customer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dengan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rincian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Alamat salah (22,6%), dan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Ingin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mengubah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tujuan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(22,4%)</a:t>
            </a:r>
            <a:endParaRPr lang="en-ID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1BB83F-2A38-49EA-9DF4-1D8511A432C3}"/>
              </a:ext>
            </a:extLst>
          </p:cNvPr>
          <p:cNvSpPr txBox="1"/>
          <p:nvPr/>
        </p:nvSpPr>
        <p:spPr>
          <a:xfrm>
            <a:off x="3227242" y="1610282"/>
            <a:ext cx="279436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Alasan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Pembatalan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oleh Driver 75%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karena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permasalahan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Customer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seperti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masalah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/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keluhan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Customer (25,3%), Customer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sakit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(25%), dan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kelebihan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jumlah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penumpang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(24,8%)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Pembatalan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karena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masalah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layanan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karena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Driver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atau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kendaraan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bermasalah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(25%)</a:t>
            </a:r>
            <a:b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endParaRPr lang="en-ID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5B218-71B1-4550-B16F-AC9A99E21D0D}"/>
              </a:ext>
            </a:extLst>
          </p:cNvPr>
          <p:cNvSpPr txBox="1"/>
          <p:nvPr/>
        </p:nvSpPr>
        <p:spPr>
          <a:xfrm>
            <a:off x="6153150" y="1610282"/>
            <a:ext cx="274738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Alasan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perjalanan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tidak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selesai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merata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antara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permintaan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customer (33,8%),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kendaraan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rusak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mogok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(33,5%),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atau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permasalahan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lain(32,7%)</a:t>
            </a:r>
            <a:endParaRPr lang="en-ID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08351947-32C7-41E7-AA72-B0552C088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5" y="87749"/>
            <a:ext cx="5672737" cy="1021373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Arial Rounded MT Bold" panose="020F0704030504030204" pitchFamily="34" charset="0"/>
              </a:rPr>
              <a:t>Alasan</a:t>
            </a:r>
            <a:r>
              <a:rPr lang="en-US" sz="2400" dirty="0"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latin typeface="Arial Rounded MT Bold" panose="020F0704030504030204" pitchFamily="34" charset="0"/>
              </a:rPr>
              <a:t>Pembatalan</a:t>
            </a:r>
            <a:r>
              <a:rPr lang="en-US" sz="2400" dirty="0">
                <a:latin typeface="Arial Rounded MT Bold" panose="020F0704030504030204" pitchFamily="34" charset="0"/>
              </a:rPr>
              <a:t> dan </a:t>
            </a:r>
            <a:r>
              <a:rPr lang="en-US" sz="2400" dirty="0" err="1">
                <a:latin typeface="Arial Rounded MT Bold" panose="020F0704030504030204" pitchFamily="34" charset="0"/>
              </a:rPr>
              <a:t>Perjalanan</a:t>
            </a:r>
            <a:r>
              <a:rPr lang="en-US" sz="2400" dirty="0"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latin typeface="Arial Rounded MT Bold" panose="020F0704030504030204" pitchFamily="34" charset="0"/>
              </a:rPr>
              <a:t>Tidak</a:t>
            </a:r>
            <a:r>
              <a:rPr lang="en-US" sz="2400" dirty="0">
                <a:latin typeface="Arial Rounded MT Bold" panose="020F0704030504030204" pitchFamily="34" charset="0"/>
              </a:rPr>
              <a:t> </a:t>
            </a:r>
            <a:r>
              <a:rPr lang="en-US" sz="2400" dirty="0" err="1">
                <a:latin typeface="Arial Rounded MT Bold" panose="020F0704030504030204" pitchFamily="34" charset="0"/>
              </a:rPr>
              <a:t>Selesai</a:t>
            </a:r>
            <a:endParaRPr lang="en-ID" sz="2400" dirty="0">
              <a:latin typeface="Arial Rounded MT Bold" panose="020F070403050403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D3AEB1-C92F-49E6-AAF1-93EA170343DC}"/>
              </a:ext>
            </a:extLst>
          </p:cNvPr>
          <p:cNvSpPr/>
          <p:nvPr/>
        </p:nvSpPr>
        <p:spPr>
          <a:xfrm>
            <a:off x="501866" y="1257300"/>
            <a:ext cx="2466975" cy="3529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Pembatalan</a:t>
            </a:r>
            <a:r>
              <a:rPr lang="en-US" dirty="0"/>
              <a:t> oleh Customer</a:t>
            </a:r>
            <a:endParaRPr lang="en-ID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55E683-0AA2-4C17-B011-0F90A443F362}"/>
              </a:ext>
            </a:extLst>
          </p:cNvPr>
          <p:cNvSpPr/>
          <p:nvPr/>
        </p:nvSpPr>
        <p:spPr>
          <a:xfrm>
            <a:off x="3554628" y="1257300"/>
            <a:ext cx="2466975" cy="3529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Pembatalan</a:t>
            </a:r>
            <a:r>
              <a:rPr lang="en-US" dirty="0"/>
              <a:t> oleh Driver</a:t>
            </a:r>
            <a:endParaRPr lang="en-ID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A78ABDB-657B-4D9C-AFB8-D8C7C3BDA9A3}"/>
              </a:ext>
            </a:extLst>
          </p:cNvPr>
          <p:cNvSpPr/>
          <p:nvPr/>
        </p:nvSpPr>
        <p:spPr>
          <a:xfrm>
            <a:off x="6433560" y="1257300"/>
            <a:ext cx="2466975" cy="3529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Perjalanan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Selesai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5231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9F2D98E-3FD0-47E7-B159-C9DA06202D87}"/>
              </a:ext>
            </a:extLst>
          </p:cNvPr>
          <p:cNvSpPr txBox="1"/>
          <p:nvPr/>
        </p:nvSpPr>
        <p:spPr>
          <a:xfrm>
            <a:off x="4771205" y="1235795"/>
            <a:ext cx="40842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</a:t>
            </a:r>
            <a:r>
              <a:rPr lang="en-ID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idak</a:t>
            </a:r>
            <a:r>
              <a:rPr lang="en-ID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ada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korelasi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yang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signifikan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antara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jarak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perjalanan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biaya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perjalanan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kecepatan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menjemput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kecepatan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mengantar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penumpang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serta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rating driver.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Rating yang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diberikan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oleh customer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bisa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berdasarkan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kualitas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pelayanan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yang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diberikan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oleh customer,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seperti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kendaraan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yang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nyaman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driver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ramah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dan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sopan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kendaraan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bersih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dan </a:t>
            </a:r>
            <a:r>
              <a:rPr lang="en-ID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wangi</a:t>
            </a:r>
            <a:r>
              <a:rPr lang="en-ID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en-ID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F27940-0989-467B-87EC-682553DCF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99" y="645244"/>
            <a:ext cx="4283425" cy="371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957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4EDBC4-8BA0-45FE-921D-981D94CDFFA5}"/>
              </a:ext>
            </a:extLst>
          </p:cNvPr>
          <p:cNvSpPr/>
          <p:nvPr/>
        </p:nvSpPr>
        <p:spPr>
          <a:xfrm>
            <a:off x="987876" y="338823"/>
            <a:ext cx="3646715" cy="6980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b="1" dirty="0">
                <a:latin typeface="+mj-lt"/>
              </a:rPr>
              <a:t>REKOMENDASI</a:t>
            </a:r>
            <a:endParaRPr lang="en-ID" sz="1800" b="1" dirty="0">
              <a:latin typeface="+mj-l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D1AF74-E64B-441E-B18C-AEBF1807D30C}"/>
              </a:ext>
            </a:extLst>
          </p:cNvPr>
          <p:cNvSpPr/>
          <p:nvPr/>
        </p:nvSpPr>
        <p:spPr>
          <a:xfrm>
            <a:off x="862692" y="1298224"/>
            <a:ext cx="7418615" cy="293632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ysClr val="windowText" lastClr="000000"/>
                </a:solidFill>
              </a:rPr>
              <a:t>Optimalkan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penggunaan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jenis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kendaraan</a:t>
            </a:r>
            <a:r>
              <a:rPr lang="en-US" dirty="0">
                <a:solidFill>
                  <a:sysClr val="windowText" lastClr="000000"/>
                </a:solidFill>
              </a:rPr>
              <a:t> Auto, Go Mini dan Go Sedan </a:t>
            </a:r>
            <a:r>
              <a:rPr lang="en-US" dirty="0" err="1">
                <a:solidFill>
                  <a:sysClr val="windowText" lastClr="000000"/>
                </a:solidFill>
              </a:rPr>
              <a:t>serta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lakukan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promosi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atau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diskon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untuk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jenis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kendaraan</a:t>
            </a:r>
            <a:r>
              <a:rPr lang="en-US" dirty="0">
                <a:solidFill>
                  <a:sysClr val="windowText" lastClr="000000"/>
                </a:solidFill>
              </a:rPr>
              <a:t> Uber XL dan </a:t>
            </a:r>
            <a:r>
              <a:rPr lang="en-US" dirty="0" err="1">
                <a:solidFill>
                  <a:sysClr val="windowText" lastClr="000000"/>
                </a:solidFill>
              </a:rPr>
              <a:t>eBike</a:t>
            </a:r>
            <a:endParaRPr lang="en-US" dirty="0">
              <a:solidFill>
                <a:sysClr val="windowText" lastClr="00000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ysClr val="windowText" lastClr="000000"/>
                </a:solidFill>
              </a:rPr>
              <a:t>Sediakan</a:t>
            </a:r>
            <a:r>
              <a:rPr lang="en-US" dirty="0">
                <a:solidFill>
                  <a:sysClr val="windowText" lastClr="000000"/>
                </a:solidFill>
              </a:rPr>
              <a:t> armada </a:t>
            </a:r>
            <a:r>
              <a:rPr lang="en-US" dirty="0" err="1">
                <a:solidFill>
                  <a:sysClr val="windowText" lastClr="000000"/>
                </a:solidFill>
              </a:rPr>
              <a:t>lebih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banyak</a:t>
            </a:r>
            <a:r>
              <a:rPr lang="en-US" dirty="0">
                <a:solidFill>
                  <a:sysClr val="windowText" lastClr="000000"/>
                </a:solidFill>
              </a:rPr>
              <a:t> di </a:t>
            </a:r>
            <a:r>
              <a:rPr lang="en-US" dirty="0" err="1">
                <a:solidFill>
                  <a:sysClr val="windowText" lastClr="000000"/>
                </a:solidFill>
              </a:rPr>
              <a:t>waktu-waktu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sibuk</a:t>
            </a:r>
            <a:r>
              <a:rPr lang="en-US" dirty="0">
                <a:solidFill>
                  <a:sysClr val="windowText" lastClr="000000"/>
                </a:solidFill>
              </a:rPr>
              <a:t> (06.00-21.00) dan </a:t>
            </a:r>
            <a:r>
              <a:rPr lang="en-US" dirty="0" err="1">
                <a:solidFill>
                  <a:sysClr val="windowText" lastClr="000000"/>
                </a:solidFill>
              </a:rPr>
              <a:t>kurangi</a:t>
            </a:r>
            <a:r>
              <a:rPr lang="en-US" dirty="0">
                <a:solidFill>
                  <a:sysClr val="windowText" lastClr="000000"/>
                </a:solidFill>
              </a:rPr>
              <a:t> armada pada </a:t>
            </a:r>
            <a:r>
              <a:rPr lang="en-US" dirty="0" err="1">
                <a:solidFill>
                  <a:sysClr val="windowText" lastClr="000000"/>
                </a:solidFill>
              </a:rPr>
              <a:t>waktu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senggang</a:t>
            </a:r>
            <a:r>
              <a:rPr lang="en-US" dirty="0">
                <a:solidFill>
                  <a:sysClr val="windowText" lastClr="000000"/>
                </a:solidFill>
              </a:rPr>
              <a:t> (00.00-06.00)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ysClr val="windowText" lastClr="000000"/>
                </a:solidFill>
              </a:rPr>
              <a:t>Berikan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penghargaan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terhadap</a:t>
            </a:r>
            <a:r>
              <a:rPr lang="en-US" dirty="0">
                <a:solidFill>
                  <a:sysClr val="windowText" lastClr="000000"/>
                </a:solidFill>
              </a:rPr>
              <a:t> driver yang </a:t>
            </a:r>
            <a:r>
              <a:rPr lang="en-US" dirty="0" err="1">
                <a:solidFill>
                  <a:sysClr val="windowText" lastClr="000000"/>
                </a:solidFill>
              </a:rPr>
              <a:t>memiliki</a:t>
            </a:r>
            <a:r>
              <a:rPr lang="en-US" dirty="0">
                <a:solidFill>
                  <a:sysClr val="windowText" lastClr="000000"/>
                </a:solidFill>
              </a:rPr>
              <a:t> rating </a:t>
            </a:r>
            <a:r>
              <a:rPr lang="en-US" dirty="0" err="1">
                <a:solidFill>
                  <a:sysClr val="windowText" lastClr="000000"/>
                </a:solidFill>
              </a:rPr>
              <a:t>bagus</a:t>
            </a:r>
            <a:r>
              <a:rPr lang="en-US" dirty="0">
                <a:solidFill>
                  <a:sysClr val="windowText" lastClr="000000"/>
                </a:solidFill>
              </a:rPr>
              <a:t> dan </a:t>
            </a:r>
            <a:r>
              <a:rPr lang="en-US" dirty="0" err="1">
                <a:solidFill>
                  <a:sysClr val="windowText" lastClr="000000"/>
                </a:solidFill>
              </a:rPr>
              <a:t>banyak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mengambil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pelanggan</a:t>
            </a:r>
            <a:r>
              <a:rPr lang="en-US" dirty="0">
                <a:solidFill>
                  <a:sysClr val="windowText" lastClr="000000"/>
                </a:solidFill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ysClr val="windowText" lastClr="000000"/>
                </a:solidFill>
              </a:rPr>
              <a:t>Lakukan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kerjasama</a:t>
            </a:r>
            <a:r>
              <a:rPr lang="en-US" dirty="0">
                <a:solidFill>
                  <a:sysClr val="windowText" lastClr="000000"/>
                </a:solidFill>
              </a:rPr>
              <a:t> dengan </a:t>
            </a:r>
            <a:r>
              <a:rPr lang="en-US" dirty="0" err="1">
                <a:solidFill>
                  <a:sysClr val="windowText" lastClr="000000"/>
                </a:solidFill>
              </a:rPr>
              <a:t>bengkel</a:t>
            </a:r>
            <a:r>
              <a:rPr lang="en-US" dirty="0">
                <a:solidFill>
                  <a:sysClr val="windowText" lastClr="000000"/>
                </a:solidFill>
              </a:rPr>
              <a:t>/ </a:t>
            </a:r>
            <a:r>
              <a:rPr lang="en-US" dirty="0" err="1">
                <a:solidFill>
                  <a:sysClr val="windowText" lastClr="000000"/>
                </a:solidFill>
              </a:rPr>
              <a:t>servis</a:t>
            </a:r>
            <a:r>
              <a:rPr lang="en-US" dirty="0">
                <a:solidFill>
                  <a:sysClr val="windowText" lastClr="000000"/>
                </a:solidFill>
              </a:rPr>
              <a:t> center agar driver </a:t>
            </a:r>
            <a:r>
              <a:rPr lang="en-US" dirty="0" err="1">
                <a:solidFill>
                  <a:sysClr val="windowText" lastClr="000000"/>
                </a:solidFill>
              </a:rPr>
              <a:t>melakukan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perawatan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kendaraan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secara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rutin</a:t>
            </a:r>
            <a:r>
              <a:rPr lang="en-US" dirty="0">
                <a:solidFill>
                  <a:sysClr val="windowText" lastClr="000000"/>
                </a:solidFill>
              </a:rPr>
              <a:t> dengan </a:t>
            </a:r>
            <a:r>
              <a:rPr lang="en-US" dirty="0" err="1">
                <a:solidFill>
                  <a:sysClr val="windowText" lastClr="000000"/>
                </a:solidFill>
              </a:rPr>
              <a:t>biaya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lebih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murah</a:t>
            </a:r>
            <a:endParaRPr lang="en-US" dirty="0">
              <a:solidFill>
                <a:sysClr val="windowText" lastClr="00000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ysClr val="windowText" lastClr="000000"/>
                </a:solidFill>
              </a:rPr>
              <a:t>Perbaiki</a:t>
            </a:r>
            <a:r>
              <a:rPr lang="en-US" dirty="0">
                <a:solidFill>
                  <a:sysClr val="windowText" lastClr="000000"/>
                </a:solidFill>
              </a:rPr>
              <a:t> system/ </a:t>
            </a:r>
            <a:r>
              <a:rPr lang="en-US" dirty="0" err="1">
                <a:solidFill>
                  <a:sysClr val="windowText" lastClr="000000"/>
                </a:solidFill>
              </a:rPr>
              <a:t>tampilan</a:t>
            </a:r>
            <a:r>
              <a:rPr lang="en-US" dirty="0">
                <a:solidFill>
                  <a:sysClr val="windowText" lastClr="000000"/>
                </a:solidFill>
              </a:rPr>
              <a:t> UX: </a:t>
            </a:r>
            <a:r>
              <a:rPr lang="en-US" dirty="0" err="1">
                <a:solidFill>
                  <a:sysClr val="windowText" lastClr="000000"/>
                </a:solidFill>
              </a:rPr>
              <a:t>permudah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pembayaran</a:t>
            </a:r>
            <a:r>
              <a:rPr lang="en-US" dirty="0">
                <a:solidFill>
                  <a:sysClr val="windowText" lastClr="000000"/>
                </a:solidFill>
              </a:rPr>
              <a:t> dengan Uber Wallet, </a:t>
            </a:r>
            <a:r>
              <a:rPr lang="en-US" dirty="0" err="1">
                <a:solidFill>
                  <a:sysClr val="windowText" lastClr="000000"/>
                </a:solidFill>
              </a:rPr>
              <a:t>berikan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informasi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tambahan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mengenai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kapasitas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maksimal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setiap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tipe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kendaraan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serta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sediakan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fitur</a:t>
            </a:r>
            <a:r>
              <a:rPr lang="en-US" dirty="0">
                <a:solidFill>
                  <a:sysClr val="windowText" lastClr="000000"/>
                </a:solidFill>
              </a:rPr>
              <a:t> “</a:t>
            </a:r>
            <a:r>
              <a:rPr lang="en-US" dirty="0" err="1">
                <a:solidFill>
                  <a:sysClr val="windowText" lastClr="000000"/>
                </a:solidFill>
              </a:rPr>
              <a:t>Ubah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tipe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kendaraan</a:t>
            </a:r>
            <a:r>
              <a:rPr lang="en-US" dirty="0">
                <a:solidFill>
                  <a:sysClr val="windowText" lastClr="000000"/>
                </a:solidFill>
              </a:rPr>
              <a:t>” dan “</a:t>
            </a:r>
            <a:r>
              <a:rPr lang="en-US" dirty="0" err="1">
                <a:solidFill>
                  <a:sysClr val="windowText" lastClr="000000"/>
                </a:solidFill>
              </a:rPr>
              <a:t>Ubah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Tujuan</a:t>
            </a:r>
            <a:r>
              <a:rPr lang="en-US" dirty="0">
                <a:solidFill>
                  <a:sysClr val="windowText" lastClr="000000"/>
                </a:solidFill>
              </a:rPr>
              <a:t>” </a:t>
            </a:r>
            <a:r>
              <a:rPr lang="en-US" dirty="0" err="1">
                <a:solidFill>
                  <a:sysClr val="windowText" lastClr="000000"/>
                </a:solidFill>
              </a:rPr>
              <a:t>tanpa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harus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membatalkan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pesanan</a:t>
            </a:r>
            <a:r>
              <a:rPr lang="en-US" dirty="0">
                <a:solidFill>
                  <a:sysClr val="windowText" lastClr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7927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AAC1DB-39E1-4926-B16E-EE080B757C7A}"/>
              </a:ext>
            </a:extLst>
          </p:cNvPr>
          <p:cNvSpPr txBox="1"/>
          <p:nvPr/>
        </p:nvSpPr>
        <p:spPr>
          <a:xfrm>
            <a:off x="690113" y="1138687"/>
            <a:ext cx="41234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Gambaran </a:t>
            </a:r>
            <a:r>
              <a:rPr lang="en-US" dirty="0" err="1">
                <a:latin typeface="+mj-lt"/>
              </a:rPr>
              <a:t>Umum</a:t>
            </a:r>
            <a:r>
              <a:rPr lang="en-US" dirty="0">
                <a:latin typeface="+mj-lt"/>
              </a:rPr>
              <a:t> Dataset</a:t>
            </a:r>
            <a:endParaRPr lang="en-ID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CAEA31-3FF5-444F-B52A-4741828DF53A}"/>
              </a:ext>
            </a:extLst>
          </p:cNvPr>
          <p:cNvSpPr txBox="1"/>
          <p:nvPr/>
        </p:nvSpPr>
        <p:spPr>
          <a:xfrm>
            <a:off x="690113" y="2310140"/>
            <a:ext cx="500332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latin typeface="+mj-lt"/>
              </a:rPr>
              <a:t>Dataset </a:t>
            </a:r>
            <a:r>
              <a:rPr lang="en-ID" dirty="0" err="1">
                <a:latin typeface="+mj-lt"/>
              </a:rPr>
              <a:t>ini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berisi</a:t>
            </a:r>
            <a:r>
              <a:rPr lang="en-ID" dirty="0">
                <a:latin typeface="+mj-lt"/>
              </a:rPr>
              <a:t> data </a:t>
            </a:r>
            <a:r>
              <a:rPr lang="en-ID" dirty="0" err="1">
                <a:latin typeface="+mj-lt"/>
              </a:rPr>
              <a:t>pengguna</a:t>
            </a:r>
            <a:r>
              <a:rPr lang="en-ID" dirty="0">
                <a:latin typeface="+mj-lt"/>
              </a:rPr>
              <a:t> Uber pada </a:t>
            </a:r>
            <a:r>
              <a:rPr lang="en-ID" dirty="0" err="1">
                <a:latin typeface="+mj-lt"/>
              </a:rPr>
              <a:t>tahun</a:t>
            </a:r>
            <a:r>
              <a:rPr lang="en-ID" dirty="0">
                <a:latin typeface="+mj-lt"/>
              </a:rPr>
              <a:t>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000000"/>
                </a:solidFill>
                <a:effectLst/>
                <a:latin typeface="+mj-lt"/>
              </a:rPr>
              <a:t>Dataset </a:t>
            </a:r>
            <a:r>
              <a:rPr lang="en-ID" b="0" i="0" dirty="0" err="1">
                <a:solidFill>
                  <a:srgbClr val="000000"/>
                </a:solidFill>
                <a:effectLst/>
                <a:latin typeface="+mj-lt"/>
              </a:rPr>
              <a:t>ini</a:t>
            </a:r>
            <a:r>
              <a:rPr lang="en-ID" b="0" i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b="0" i="0" dirty="0" err="1">
                <a:solidFill>
                  <a:srgbClr val="000000"/>
                </a:solidFill>
                <a:effectLst/>
                <a:latin typeface="+mj-lt"/>
              </a:rPr>
              <a:t>memuat</a:t>
            </a:r>
            <a:r>
              <a:rPr lang="en-ID" b="0" i="0" dirty="0">
                <a:solidFill>
                  <a:srgbClr val="000000"/>
                </a:solidFill>
                <a:effectLst/>
                <a:latin typeface="+mj-lt"/>
              </a:rPr>
              <a:t> 148.670 data </a:t>
            </a:r>
            <a:r>
              <a:rPr lang="en-ID" b="0" i="0" dirty="0" err="1">
                <a:solidFill>
                  <a:srgbClr val="000000"/>
                </a:solidFill>
                <a:effectLst/>
                <a:latin typeface="+mj-lt"/>
              </a:rPr>
              <a:t>pemesanan</a:t>
            </a:r>
            <a:r>
              <a:rPr lang="en-ID" dirty="0">
                <a:latin typeface="+mj-lt"/>
              </a:rPr>
              <a:t> </a:t>
            </a:r>
            <a:r>
              <a:rPr lang="en-ID" b="0" i="0" dirty="0" err="1">
                <a:solidFill>
                  <a:srgbClr val="000000"/>
                </a:solidFill>
                <a:effectLst/>
                <a:latin typeface="+mj-lt"/>
              </a:rPr>
              <a:t>berbagai</a:t>
            </a:r>
            <a:r>
              <a:rPr lang="en-ID" b="0" i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b="0" i="0" dirty="0" err="1">
                <a:solidFill>
                  <a:srgbClr val="000000"/>
                </a:solidFill>
                <a:effectLst/>
                <a:latin typeface="+mj-lt"/>
              </a:rPr>
              <a:t>jenis</a:t>
            </a:r>
            <a:r>
              <a:rPr lang="en-ID" b="0" i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ID" b="0" i="0" dirty="0" err="1">
                <a:solidFill>
                  <a:srgbClr val="000000"/>
                </a:solidFill>
                <a:effectLst/>
                <a:latin typeface="+mj-lt"/>
              </a:rPr>
              <a:t>kendaraan</a:t>
            </a:r>
            <a:endParaRPr lang="en-ID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>
                <a:latin typeface="+mj-lt"/>
              </a:rPr>
              <a:t>Pengguna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berasal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dari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berbagai</a:t>
            </a:r>
            <a:r>
              <a:rPr lang="en-ID" dirty="0">
                <a:latin typeface="+mj-lt"/>
              </a:rPr>
              <a:t> </a:t>
            </a:r>
            <a:r>
              <a:rPr lang="en-ID" dirty="0" err="1">
                <a:latin typeface="+mj-lt"/>
              </a:rPr>
              <a:t>daerah</a:t>
            </a:r>
            <a:endParaRPr lang="en-ID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353294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783</Words>
  <Application>Microsoft Office PowerPoint</Application>
  <PresentationFormat>On-screen Show (16:9)</PresentationFormat>
  <Paragraphs>75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Poppins SemiBold</vt:lpstr>
      <vt:lpstr>Poppins</vt:lpstr>
      <vt:lpstr>Arial</vt:lpstr>
      <vt:lpstr>Poppins Light</vt:lpstr>
      <vt:lpstr>Calibri Light</vt:lpstr>
      <vt:lpstr>Arial Rounded MT Bold</vt:lpstr>
      <vt:lpstr>Simple Light</vt:lpstr>
      <vt:lpstr>Simple Light</vt:lpstr>
      <vt:lpstr>Analisis Pelanggan Uber tahun 2024</vt:lpstr>
      <vt:lpstr>PowerPoint Presentation</vt:lpstr>
      <vt:lpstr>Gambaran Umum</vt:lpstr>
      <vt:lpstr>Analisis Performa Bulanan</vt:lpstr>
      <vt:lpstr>Analisis Performa Bulanan</vt:lpstr>
      <vt:lpstr>PowerPoint Presentation</vt:lpstr>
      <vt:lpstr>PowerPoint Presentation</vt:lpstr>
      <vt:lpstr>Analisis Performa Jenis Kendaraan</vt:lpstr>
      <vt:lpstr>Kontribusi Metode Pembayaran</vt:lpstr>
      <vt:lpstr>Alasan Pembatalan dan Perjalanan Tidak Selesai</vt:lpstr>
      <vt:lpstr>Alasan Pembatalan dan Perjalanan Tidak Selesai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pelanggan Uber tahun 2024</dc:title>
  <cp:lastModifiedBy>HP</cp:lastModifiedBy>
  <cp:revision>83</cp:revision>
  <dcterms:modified xsi:type="dcterms:W3CDTF">2026-02-06T21:01:59Z</dcterms:modified>
</cp:coreProperties>
</file>